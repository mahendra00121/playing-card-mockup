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12191695" cy="8229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3152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731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91640" y="74980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Estimo ERP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11704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Corrugation Suite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Corrugated Box Manufacturing ERP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Enquiry to Dispatch — one integrated, AI-enabled platform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77240" y="4160520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10233D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160520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 </a:t>
            </a:r>
            <a:pPr algn="ctr" indent="0" marL="0">
              <a:buNone/>
            </a:pPr>
            <a:r>
              <a:rPr lang="en-US" sz="1200" dirty="0">
                <a:solidFill>
                  <a:srgbClr val="8FB3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560320" y="4160520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10233D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4160520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  </a:t>
            </a:r>
            <a:pPr algn="ctr" indent="0" marL="0">
              <a:buNone/>
            </a:pPr>
            <a:r>
              <a:rPr lang="en-US" sz="1200" dirty="0">
                <a:solidFill>
                  <a:srgbClr val="8FB3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343400" y="4160520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10233D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4160520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25+  </a:t>
            </a:r>
            <a:pPr algn="ctr" indent="0" marL="0">
              <a:buNone/>
            </a:pPr>
            <a:r>
              <a:rPr lang="en-US" sz="1200" dirty="0">
                <a:solidFill>
                  <a:srgbClr val="8FB3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Masters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126480" y="4160520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10233D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4160520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 </a:t>
            </a:r>
            <a:pPr algn="ctr" indent="0" marL="0">
              <a:buNone/>
            </a:pPr>
            <a:r>
              <a:rPr lang="en-US" sz="1200" dirty="0">
                <a:solidFill>
                  <a:srgbClr val="8FB3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Tools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240" y="5349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Overview  •  Client Presentation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5715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July 2026  •  v2.4.0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3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challenges in the corrugation industry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" y="1627632"/>
            <a:ext cx="146304" cy="859536"/>
          </a:xfrm>
          <a:prstGeom prst="roundRect">
            <a:avLst>
              <a:gd name="adj" fmla="val 31250"/>
            </a:avLst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544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estimation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938528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 costing on Excel/registers — wrong quotes, thin margins, slow response.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16752" y="13716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627632"/>
            <a:ext cx="146304" cy="859536"/>
          </a:xfrm>
          <a:prstGeom prst="roundRect">
            <a:avLst>
              <a:gd name="adj" fmla="val 31250"/>
            </a:avLst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6519672" y="15544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Reel &amp; paper wastage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19672" y="1938528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idea which reel is where; weak deckle planning; heavy scrap.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2999232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4088" y="3255264"/>
            <a:ext cx="146304" cy="859536"/>
          </a:xfrm>
          <a:prstGeom prst="roundRect">
            <a:avLst>
              <a:gd name="adj" fmla="val 31250"/>
            </a:avLst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18211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blind spot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56616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real-time tracking from job card to floor — WIP status is guesswork.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16752" y="2999232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3255264"/>
            <a:ext cx="146304" cy="859536"/>
          </a:xfrm>
          <a:prstGeom prst="roundRect">
            <a:avLst>
              <a:gd name="adj" fmla="val 31250"/>
            </a:avLst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6519672" y="318211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Scattered data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19672" y="356616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Sales, store, production, dispatch in separate registers — no single picture.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4626864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4088" y="4882896"/>
            <a:ext cx="146304" cy="859536"/>
          </a:xfrm>
          <a:prstGeom prst="roundRect">
            <a:avLst>
              <a:gd name="adj" fmla="val 31250"/>
            </a:avLst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809744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slip-ups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519379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Missed commitment dates, dispatch confusion, hit to customer trust.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16752" y="4626864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4882896"/>
            <a:ext cx="146304" cy="859536"/>
          </a:xfrm>
          <a:prstGeom prst="roundRect">
            <a:avLst>
              <a:gd name="adj" fmla="val 31250"/>
            </a:avLst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6519672" y="4809744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blind-spots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19672" y="519379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min-stock alerts, late reorders, overdue POs — the line stops.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Estimo ERP  •  Corrugation Suite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3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Estimo ERP — the entire corrugation workflow in one place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step from sales enquiry to final dispatch in a single system — with live data, AI assistance, and a full audit trail.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2670048" cy="329184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148840"/>
            <a:ext cx="2670048" cy="640080"/>
          </a:xfrm>
          <a:prstGeom prst="roundRect">
            <a:avLst>
              <a:gd name="adj" fmla="val 11429"/>
            </a:avLst>
          </a:pr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2468880"/>
            <a:ext cx="2670048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67128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" y="3017520"/>
            <a:ext cx="226771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Enquiry → Quotation → Order → Job → Production → Dispatch, all connected.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73552" y="2148840"/>
            <a:ext cx="2670048" cy="329184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73552" y="2148840"/>
            <a:ext cx="2670048" cy="640080"/>
          </a:xfrm>
          <a:prstGeom prst="roundRect">
            <a:avLst>
              <a:gd name="adj" fmla="val 11429"/>
            </a:avLst>
          </a:prstGeom>
          <a:solidFill>
            <a:srgbClr val="6366F1"/>
          </a:solidFill>
          <a:ln/>
        </p:spPr>
      </p:sp>
      <p:sp>
        <p:nvSpPr>
          <p:cNvPr id="14" name="Shape 12"/>
          <p:cNvSpPr/>
          <p:nvPr/>
        </p:nvSpPr>
        <p:spPr>
          <a:xfrm>
            <a:off x="3273552" y="2468880"/>
            <a:ext cx="2670048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3456432" y="2167128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AI-enabled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0" y="3017520"/>
            <a:ext cx="226771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Natural-language data query + auto inventory agent + order intelligence.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44184" y="2148840"/>
            <a:ext cx="2670048" cy="329184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44184" y="2148840"/>
            <a:ext cx="2670048" cy="640080"/>
          </a:xfrm>
          <a:prstGeom prst="roundRect">
            <a:avLst>
              <a:gd name="adj" fmla="val 11429"/>
            </a:avLst>
          </a:prstGeom>
          <a:solidFill>
            <a:srgbClr val="06B6D4"/>
          </a:solidFill>
          <a:ln/>
        </p:spPr>
      </p:sp>
      <p:sp>
        <p:nvSpPr>
          <p:cNvPr id="19" name="Shape 17"/>
          <p:cNvSpPr/>
          <p:nvPr/>
        </p:nvSpPr>
        <p:spPr>
          <a:xfrm>
            <a:off x="6044184" y="2468880"/>
            <a:ext cx="2670048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6227064" y="2167128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inventory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45352" y="3017520"/>
            <a:ext cx="226771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lifecycle for Reel &amp; Paper — from requisition to verification.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814816" y="2148840"/>
            <a:ext cx="2670048" cy="329184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814816" y="2148840"/>
            <a:ext cx="2670048" cy="640080"/>
          </a:xfrm>
          <a:prstGeom prst="roundRect">
            <a:avLst>
              <a:gd name="adj" fmla="val 11429"/>
            </a:avLst>
          </a:prstGeom>
          <a:solidFill>
            <a:srgbClr val="22C55E"/>
          </a:solidFill>
          <a:ln/>
        </p:spPr>
      </p:sp>
      <p:sp>
        <p:nvSpPr>
          <p:cNvPr id="24" name="Shape 22"/>
          <p:cNvSpPr/>
          <p:nvPr/>
        </p:nvSpPr>
        <p:spPr>
          <a:xfrm>
            <a:off x="8814816" y="2468880"/>
            <a:ext cx="2670048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8997696" y="2167128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Config-driven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015984" y="3017520"/>
            <a:ext cx="226771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25+ masters &amp; 8 ledgers — every mill can configure it their own way.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57150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Prototype note: This is a fully clickable UI mockup (runs in the browser) — real workflows, dummy data. Backend plug-in ready.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Estimo ERP  •  Corrugation Suite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3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modules, 62 screens — at a glance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72768"/>
            <a:ext cx="128016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00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Dashboards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 + 5 role dashboards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33672" y="13716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33672" y="1572768"/>
            <a:ext cx="128016" cy="101498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1600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AI Suite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05740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 Center, Inventory Agent, Order Intel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64424" y="13716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64424" y="1572768"/>
            <a:ext cx="128016" cy="101498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8284464" y="1600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Sales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84464" y="205740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Enquiry, Quotation, Sales Order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290779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108960"/>
            <a:ext cx="128016" cy="101498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3639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Production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359359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Card, Tracking, WIP, PPC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33672" y="290779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33672" y="3108960"/>
            <a:ext cx="128016" cy="101498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4553712" y="313639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Inventory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53712" y="359359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Reel &amp; Paper lifecycle, FG, Consumables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964424" y="290779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964424" y="3108960"/>
            <a:ext cx="128016" cy="101498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8" name="Text 26"/>
          <p:cNvSpPr/>
          <p:nvPr/>
        </p:nvSpPr>
        <p:spPr>
          <a:xfrm>
            <a:off x="8284464" y="313639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Dispatch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84464" y="359359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 Queue, Delivery Challan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02920" y="4443984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4645152"/>
            <a:ext cx="128016" cy="10149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67258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Operations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2960" y="5129784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Master, Job Prep, Purchase Req.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233672" y="4443984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233672" y="4645152"/>
            <a:ext cx="128016" cy="10149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4553712" y="467258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Reports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53712" y="5129784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 vs Actual, KPI, Mgmt Dashboard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964424" y="4443984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964424" y="4645152"/>
            <a:ext cx="128016" cy="101498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0" name="Text 38"/>
          <p:cNvSpPr/>
          <p:nvPr/>
        </p:nvSpPr>
        <p:spPr>
          <a:xfrm>
            <a:off x="8284464" y="467258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Masters &amp; Ledgers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284464" y="5129784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25+ masters, 8 ledgers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Estimo ERP  •  Corrugation Suite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3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FLOWS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Order-to-Dispatch — end to end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700784" cy="173736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14984" y="2286000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1014984" y="22860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0352" y="29443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Enquiry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capture, job name, category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39696" y="23774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2286000" y="2103120"/>
            <a:ext cx="1700784" cy="173736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43784" y="2286000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2843784" y="22860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359152" y="29443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77440" y="329184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 costing, margin, rate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68496" y="23774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114800" y="2103120"/>
            <a:ext cx="1700784" cy="173736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72584" y="2286000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672584" y="22860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187952" y="29443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Order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06240" y="329184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 qty &amp; delivery date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797296" y="23774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5943600" y="2103120"/>
            <a:ext cx="1700784" cy="173736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01384" y="2286000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6501384" y="22860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016752" y="29443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Card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35040" y="329184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Ply, flute, GSM, deckle, processes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626096" y="23774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7772400" y="2103120"/>
            <a:ext cx="1700784" cy="173736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30184" y="2286000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8330184" y="22860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845552" y="29443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863840" y="329184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Corrugation → Printing → Punching → Pasting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454896" y="23774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9601200" y="2103120"/>
            <a:ext cx="1700784" cy="173736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158984" y="2286000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38" name="Text 36"/>
          <p:cNvSpPr/>
          <p:nvPr/>
        </p:nvSpPr>
        <p:spPr>
          <a:xfrm>
            <a:off x="10158984" y="22860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674352" y="29443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692640" y="329184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Queue → Challan → Delivery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4206240"/>
            <a:ext cx="11292840" cy="1600200"/>
          </a:xfrm>
          <a:prstGeom prst="roundRect">
            <a:avLst>
              <a:gd name="adj" fmla="val 4571"/>
            </a:avLst>
          </a:prstGeom>
          <a:solidFill>
            <a:srgbClr val="F7F9FC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85800" y="4343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 layers behind every step: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85800" y="4800600"/>
            <a:ext cx="128016" cy="256032"/>
          </a:xfrm>
          <a:prstGeom prst="roundRect">
            <a:avLst>
              <a:gd name="adj" fmla="val 35714"/>
            </a:avLst>
          </a:prstGeom>
          <a:solidFill>
            <a:srgbClr val="6366F1"/>
          </a:solidFill>
          <a:ln/>
        </p:spPr>
      </p:sp>
      <p:sp>
        <p:nvSpPr>
          <p:cNvPr id="44" name="Text 42"/>
          <p:cNvSpPr/>
          <p:nvPr/>
        </p:nvSpPr>
        <p:spPr>
          <a:xfrm>
            <a:off x="941832" y="4754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Inventory: reel/paper issue to floor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172200" y="4800600"/>
            <a:ext cx="128016" cy="256032"/>
          </a:xfrm>
          <a:prstGeom prst="roundRect">
            <a:avLst>
              <a:gd name="adj" fmla="val 35714"/>
            </a:avLst>
          </a:prstGeom>
          <a:solidFill>
            <a:srgbClr val="6366F1"/>
          </a:solidFill>
          <a:ln/>
        </p:spPr>
      </p:sp>
      <p:sp>
        <p:nvSpPr>
          <p:cNvPr id="46" name="Text 44"/>
          <p:cNvSpPr/>
          <p:nvPr/>
        </p:nvSpPr>
        <p:spPr>
          <a:xfrm>
            <a:off x="6428232" y="4754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PPC: machine-wise planning &amp; scheduling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685800" y="5257800"/>
            <a:ext cx="128016" cy="256032"/>
          </a:xfrm>
          <a:prstGeom prst="roundRect">
            <a:avLst>
              <a:gd name="adj" fmla="val 35714"/>
            </a:avLst>
          </a:prstGeom>
          <a:solidFill>
            <a:srgbClr val="6366F1"/>
          </a:solidFill>
          <a:ln/>
        </p:spPr>
      </p:sp>
      <p:sp>
        <p:nvSpPr>
          <p:cNvPr id="48" name="Text 46"/>
          <p:cNvSpPr/>
          <p:nvPr/>
        </p:nvSpPr>
        <p:spPr>
          <a:xfrm>
            <a:off x="941832" y="5212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WIP: real-time stage tracking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6172200" y="5257800"/>
            <a:ext cx="128016" cy="256032"/>
          </a:xfrm>
          <a:prstGeom prst="roundRect">
            <a:avLst>
              <a:gd name="adj" fmla="val 35714"/>
            </a:avLst>
          </a:prstGeom>
          <a:solidFill>
            <a:srgbClr val="6366F1"/>
          </a:solidFill>
          <a:ln/>
        </p:spPr>
      </p:sp>
      <p:sp>
        <p:nvSpPr>
          <p:cNvPr id="50" name="Text 48"/>
          <p:cNvSpPr/>
          <p:nvPr/>
        </p:nvSpPr>
        <p:spPr>
          <a:xfrm>
            <a:off x="6428232" y="5212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Reports: Estimation vs Actual costing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Estimo ERP  •  Corrugation Suite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3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1 — SALES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Enquiry → Quotation → Sales Order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71600"/>
            <a:ext cx="3611880" cy="566928"/>
          </a:xfrm>
          <a:prstGeom prst="roundRect">
            <a:avLst>
              <a:gd name="adj" fmla="val 12903"/>
            </a:avLst>
          </a:prstGeom>
          <a:solidFill>
            <a:srgbClr val="22C55E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645920"/>
            <a:ext cx="3611880" cy="2926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7160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Enquiry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4088" y="220370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057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/ customer capture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4088" y="286207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1576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name, product code, category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4088" y="352044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374136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person &amp; type, payment terms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" y="417880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032504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Division auto-map, remarks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42816" y="1371600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42816" y="1371600"/>
            <a:ext cx="3611880" cy="566928"/>
          </a:xfrm>
          <a:prstGeom prst="roundRect">
            <a:avLst>
              <a:gd name="adj" fmla="val 12903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242816" y="1645920"/>
            <a:ext cx="3611880" cy="2926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425696" y="137160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43984" y="220370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4654296" y="2057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 costing engine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43984" y="286207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4654296" y="271576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Rate, margin &amp; discount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443984" y="352044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4654296" y="3374136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Multi-item, revision history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443984" y="417880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4654296" y="4032504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 to Sales Order in 1 click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982712" y="1371600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982712" y="1371600"/>
            <a:ext cx="3611880" cy="566928"/>
          </a:xfrm>
          <a:prstGeom prst="roundRect">
            <a:avLst>
              <a:gd name="adj" fmla="val 12903"/>
            </a:avLst>
          </a:prstGeom>
          <a:solidFill>
            <a:srgbClr val="F97316"/>
          </a:solidFill>
          <a:ln/>
        </p:spPr>
      </p:sp>
      <p:sp>
        <p:nvSpPr>
          <p:cNvPr id="32" name="Shape 30"/>
          <p:cNvSpPr/>
          <p:nvPr/>
        </p:nvSpPr>
        <p:spPr>
          <a:xfrm>
            <a:off x="7982712" y="1645920"/>
            <a:ext cx="3611880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8165592" y="137160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Order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83880" y="220370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5" name="Text 33"/>
          <p:cNvSpPr/>
          <p:nvPr/>
        </p:nvSpPr>
        <p:spPr>
          <a:xfrm>
            <a:off x="8394192" y="2057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 quantity &amp; rate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183880" y="286207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8394192" y="271576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commitment date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183880" y="352044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9" name="Text 37"/>
          <p:cNvSpPr/>
          <p:nvPr/>
        </p:nvSpPr>
        <p:spPr>
          <a:xfrm>
            <a:off x="8394192" y="3374136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Links to Job Card &amp; Production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183880" y="417880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41" name="Text 39"/>
          <p:cNvSpPr/>
          <p:nvPr/>
        </p:nvSpPr>
        <p:spPr>
          <a:xfrm>
            <a:off x="8394192" y="4032504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tracking till dispatch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02920" y="52120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Plus: AI Order Intelligence — which customer, when, and how much they order — frequency &amp; pattern analysis.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Estimo ERP  •  Corrugation Suite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3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2 — PRODUCTION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Card, Tracking, WIP &amp; PPC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71600"/>
            <a:ext cx="3611880" cy="566928"/>
          </a:xfrm>
          <a:prstGeom prst="roundRect">
            <a:avLst>
              <a:gd name="adj" fmla="val 12903"/>
            </a:avLst>
          </a:prstGeom>
          <a:solidFill>
            <a:srgbClr val="F97316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645920"/>
            <a:ext cx="3611880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7160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Card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4088" y="217627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04825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 specs: Ply, Flute (B/C/BC), GSM, BF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4088" y="277977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6517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Deckle &amp; board size planning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4088" y="338328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255264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route: Corrugation, Printing,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" y="398678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85876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Punching, Slotting, Pasting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4088" y="45902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46227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Material &amp; quantity requirement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42816" y="137160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42816" y="1371600"/>
            <a:ext cx="3611880" cy="566928"/>
          </a:xfrm>
          <a:prstGeom prst="roundRect">
            <a:avLst>
              <a:gd name="adj" fmla="val 12903"/>
            </a:avLst>
          </a:prstGeom>
          <a:solidFill>
            <a:srgbClr val="3B82F6"/>
          </a:solidFill>
          <a:ln/>
        </p:spPr>
      </p:sp>
      <p:sp>
        <p:nvSpPr>
          <p:cNvPr id="22" name="Shape 20"/>
          <p:cNvSpPr/>
          <p:nvPr/>
        </p:nvSpPr>
        <p:spPr>
          <a:xfrm>
            <a:off x="4242816" y="1645920"/>
            <a:ext cx="3611880" cy="2926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4425696" y="137160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Tracking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43984" y="217627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4654296" y="204825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Stage-wise live status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43984" y="277977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4654296" y="26517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Completed vs pending per process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43984" y="338328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4654296" y="3255264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&amp; operator mapping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43984" y="398678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4654296" y="385876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&amp; rejection capture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982712" y="137160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982712" y="1371600"/>
            <a:ext cx="3611880" cy="566928"/>
          </a:xfrm>
          <a:prstGeom prst="roundRect">
            <a:avLst>
              <a:gd name="adj" fmla="val 12903"/>
            </a:avLst>
          </a:prstGeom>
          <a:solidFill>
            <a:srgbClr val="22C55E"/>
          </a:solidFill>
          <a:ln/>
        </p:spPr>
      </p:sp>
      <p:sp>
        <p:nvSpPr>
          <p:cNvPr id="34" name="Shape 32"/>
          <p:cNvSpPr/>
          <p:nvPr/>
        </p:nvSpPr>
        <p:spPr>
          <a:xfrm>
            <a:off x="7982712" y="1645920"/>
            <a:ext cx="3611880" cy="2926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5" name="Text 33"/>
          <p:cNvSpPr/>
          <p:nvPr/>
        </p:nvSpPr>
        <p:spPr>
          <a:xfrm>
            <a:off x="8165592" y="137160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WIP &amp; PPC Planning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83880" y="217627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37" name="Text 35"/>
          <p:cNvSpPr/>
          <p:nvPr/>
        </p:nvSpPr>
        <p:spPr>
          <a:xfrm>
            <a:off x="8394192" y="204825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work-in-progress view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183880" y="277977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39" name="Text 37"/>
          <p:cNvSpPr/>
          <p:nvPr/>
        </p:nvSpPr>
        <p:spPr>
          <a:xfrm>
            <a:off x="8394192" y="26517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Machine-wise production planning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83880" y="338328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41" name="Text 39"/>
          <p:cNvSpPr/>
          <p:nvPr/>
        </p:nvSpPr>
        <p:spPr>
          <a:xfrm>
            <a:off x="8394192" y="3255264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Scheduling &amp; load balancing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83880" y="398678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43" name="Text 41"/>
          <p:cNvSpPr/>
          <p:nvPr/>
        </p:nvSpPr>
        <p:spPr>
          <a:xfrm>
            <a:off x="8394192" y="385876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&amp; due-date driven queue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Estimo ERP  •  Corrugation Suite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3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3 — INVENTORY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lifecycle for Reel &amp; Paper (USP)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31673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D0E2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27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76479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42516" y="1417320"/>
            <a:ext cx="131673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D0E2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33956" y="1527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15668" y="176479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Order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27832" y="1417320"/>
            <a:ext cx="131673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D0E2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19272" y="1527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00984" y="176479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GRN / Receipt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3148" y="1417320"/>
            <a:ext cx="131673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D0E2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4588" y="1527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86300" y="176479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 to Floor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98464" y="1417320"/>
            <a:ext cx="131673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D0E2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89904" y="1527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71616" y="176479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Floor Stock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83780" y="1417320"/>
            <a:ext cx="131673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D0E2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75220" y="1527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56932" y="176479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69096" y="1417320"/>
            <a:ext cx="131673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D0E2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860536" y="1527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42248" y="176479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154412" y="1417320"/>
            <a:ext cx="131673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D0E2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245852" y="1527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27564" y="176479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Report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24688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entire cycle is maintained separately for both Reel/Liner and Paper/Board.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2920" y="30632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3246120"/>
            <a:ext cx="128016" cy="8686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324612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Finished Goods Store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22960" y="363016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of ready boxes, batch &amp; bundle tracking, dispatch-ready qty.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62472" y="30632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62472" y="3246120"/>
            <a:ext cx="128016" cy="868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6382512" y="324612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Consumables &amp; Fitments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382512" y="363016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Gum, ink, stitching wire, strapping — issue &amp; consumption tracking.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2920" y="44348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02920" y="4617720"/>
            <a:ext cx="128016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461772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 Close &amp; Physical Verify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22960" y="500176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 reconciliation + physical stock vs system audit.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062472" y="44348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62472" y="4617720"/>
            <a:ext cx="128016" cy="8686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5" name="Text 43"/>
          <p:cNvSpPr/>
          <p:nvPr/>
        </p:nvSpPr>
        <p:spPr>
          <a:xfrm>
            <a:off x="6382512" y="461772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Reel-level Traceability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382512" y="500176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reel, on which job, how much free stock — full visibility.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Estimo ERP  •  Corrugation Suite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DIFFERENTIATOR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Suite — talk to your data, decide faster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7160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6366F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783080"/>
            <a:ext cx="3611880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4475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Command Center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the ERP in natural language — answers as tables/numbers.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2423160"/>
            <a:ext cx="3246120" cy="621792"/>
          </a:xfrm>
          <a:prstGeom prst="roundRect">
            <a:avLst>
              <a:gd name="adj" fmla="val 8824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441448"/>
            <a:ext cx="30449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C1D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“Top 5 customers by revenue this month?”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172968"/>
            <a:ext cx="3246120" cy="621792"/>
          </a:xfrm>
          <a:prstGeom prst="roundRect">
            <a:avLst>
              <a:gd name="adj" fmla="val 8824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191256"/>
            <a:ext cx="30449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C1D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“Which reels are below minimum stock?”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922776"/>
            <a:ext cx="3246120" cy="621792"/>
          </a:xfrm>
          <a:prstGeom prst="roundRect">
            <a:avLst>
              <a:gd name="adj" fmla="val 8824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3941064"/>
            <a:ext cx="30449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C1D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“Pending job cards for corrugation today”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672584"/>
            <a:ext cx="3246120" cy="621792"/>
          </a:xfrm>
          <a:prstGeom prst="roundRect">
            <a:avLst>
              <a:gd name="adj" fmla="val 8824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4690872"/>
            <a:ext cx="30449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C1D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“Avg box cost for a customer this quarter”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42816" y="137160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42816" y="137160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6366F1"/>
          </a:solidFill>
          <a:ln/>
        </p:spPr>
      </p:sp>
      <p:sp>
        <p:nvSpPr>
          <p:cNvPr id="21" name="Shape 19"/>
          <p:cNvSpPr/>
          <p:nvPr/>
        </p:nvSpPr>
        <p:spPr>
          <a:xfrm>
            <a:off x="4242816" y="1783080"/>
            <a:ext cx="3611880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4425696" y="144475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AI Agent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25696" y="18288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stock analysis + auto reorder suggestions.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25696" y="2423160"/>
            <a:ext cx="3246120" cy="621792"/>
          </a:xfrm>
          <a:prstGeom prst="roundRect">
            <a:avLst>
              <a:gd name="adj" fmla="val 8824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35424" y="2441448"/>
            <a:ext cx="30449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1D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Below-min stock alerts (live)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25696" y="3172968"/>
            <a:ext cx="3246120" cy="621792"/>
          </a:xfrm>
          <a:prstGeom prst="roundRect">
            <a:avLst>
              <a:gd name="adj" fmla="val 8824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35424" y="3191256"/>
            <a:ext cx="30449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1D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7–14 day demand forecast horizon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25696" y="3922776"/>
            <a:ext cx="3246120" cy="621792"/>
          </a:xfrm>
          <a:prstGeom prst="roundRect">
            <a:avLst>
              <a:gd name="adj" fmla="val 8824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35424" y="3941064"/>
            <a:ext cx="30449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1D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reorder suggestions → auto-PR draft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25696" y="4672584"/>
            <a:ext cx="3246120" cy="621792"/>
          </a:xfrm>
          <a:prstGeom prst="roundRect">
            <a:avLst>
              <a:gd name="adj" fmla="val 8824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35424" y="4690872"/>
            <a:ext cx="30449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1D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Overdue PO &amp; risk flags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82712" y="137160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982712" y="137160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6366F1"/>
          </a:solidFill>
          <a:ln/>
        </p:spPr>
      </p:sp>
      <p:sp>
        <p:nvSpPr>
          <p:cNvPr id="34" name="Shape 32"/>
          <p:cNvSpPr/>
          <p:nvPr/>
        </p:nvSpPr>
        <p:spPr>
          <a:xfrm>
            <a:off x="7982712" y="1783080"/>
            <a:ext cx="3611880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5" name="Text 33"/>
          <p:cNvSpPr/>
          <p:nvPr/>
        </p:nvSpPr>
        <p:spPr>
          <a:xfrm>
            <a:off x="8165592" y="144475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Order Intelligence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65592" y="18288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pattern &amp; frequency analysis per customer.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165592" y="2423160"/>
            <a:ext cx="3246120" cy="621792"/>
          </a:xfrm>
          <a:prstGeom prst="roundRect">
            <a:avLst>
              <a:gd name="adj" fmla="val 8824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75320" y="2441448"/>
            <a:ext cx="30449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1D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customer orders, and when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165592" y="3172968"/>
            <a:ext cx="3246120" cy="621792"/>
          </a:xfrm>
          <a:prstGeom prst="roundRect">
            <a:avLst>
              <a:gd name="adj" fmla="val 8824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75320" y="3191256"/>
            <a:ext cx="30449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1D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Repeat-order frequency &amp; cycle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65592" y="3922776"/>
            <a:ext cx="3246120" cy="621792"/>
          </a:xfrm>
          <a:prstGeom prst="roundRect">
            <a:avLst>
              <a:gd name="adj" fmla="val 8824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75320" y="3941064"/>
            <a:ext cx="30449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1D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seasonality signals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165592" y="4672584"/>
            <a:ext cx="3246120" cy="621792"/>
          </a:xfrm>
          <a:prstGeom prst="roundRect">
            <a:avLst>
              <a:gd name="adj" fmla="val 8824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75320" y="4690872"/>
            <a:ext cx="30449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1D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follow-up cues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Estimo ERP  •  Corrugation Suite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3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VISIBILITY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Dashboards &amp; Reports — everything live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dashboards: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810512"/>
            <a:ext cx="118872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6459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70632" y="164592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70632" y="1810512"/>
            <a:ext cx="118872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3026664" y="16459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&amp; Store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38344" y="164592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38344" y="1810512"/>
            <a:ext cx="118872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294376" y="16459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06056" y="164592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06056" y="1810512"/>
            <a:ext cx="118872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7562088" y="16459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573768" y="164592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73768" y="1810512"/>
            <a:ext cx="118872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9829800" y="16459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2697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these dashboards show: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02920" y="310896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2735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310896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&amp; orders due today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62472" y="310896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9632" y="32735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6428232" y="310896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output (week / board)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2920" y="3675888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38404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367588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utilization &amp; efficiency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062472" y="3675888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99632" y="38404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6428232" y="367588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WIP &amp; pending job cards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02920" y="4242816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44074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4242816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 queue &amp; ready orders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062472" y="4242816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99632" y="44074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0" name="Text 38"/>
          <p:cNvSpPr/>
          <p:nvPr/>
        </p:nvSpPr>
        <p:spPr>
          <a:xfrm>
            <a:off x="6428232" y="4242816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health &amp; critical items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02920" y="4809744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" y="49743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4809744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GRN &amp; payable value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062472" y="4809744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99632" y="49743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6" name="Text 44"/>
          <p:cNvSpPr/>
          <p:nvPr/>
        </p:nvSpPr>
        <p:spPr>
          <a:xfrm>
            <a:off x="6428232" y="4809744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Overdue alerts &amp; risk flags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02920" y="56235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Reports: Estimation vs Actual  •  KPI Dashboard  •  Management Dashboard — costing accuracy and profitability in one place.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Estimo ERP  •  Corrugation Suite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3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Masters &amp; Ledgers — deeply configurable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25+ masters and 8 ledgers — every corrugation unit can set up the system according to its own processes, machines, and materials.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2670048" cy="384048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920240"/>
            <a:ext cx="2670048" cy="54864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2194560"/>
            <a:ext cx="2670048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192024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Material Masters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69748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60604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Master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11810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026664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Reel Master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53872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447288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 Master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95935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867912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Material Group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37997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288536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80060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70916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of Measure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522122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129784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HSN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73552" y="1920240"/>
            <a:ext cx="2670048" cy="384048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73552" y="1920240"/>
            <a:ext cx="2670048" cy="54864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/>
        </p:spPr>
      </p:sp>
      <p:sp>
        <p:nvSpPr>
          <p:cNvPr id="27" name="Shape 25"/>
          <p:cNvSpPr/>
          <p:nvPr/>
        </p:nvSpPr>
        <p:spPr>
          <a:xfrm>
            <a:off x="3273552" y="2194560"/>
            <a:ext cx="2670048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3438144" y="192024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Masters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456432" y="269748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3639312" y="260604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56432" y="311810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3639312" y="3026664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456432" y="353872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4" name="Text 32"/>
          <p:cNvSpPr/>
          <p:nvPr/>
        </p:nvSpPr>
        <p:spPr>
          <a:xfrm>
            <a:off x="3639312" y="3447288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456432" y="395935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3639312" y="3867912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 Master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456432" y="437997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8" name="Text 36"/>
          <p:cNvSpPr/>
          <p:nvPr/>
        </p:nvSpPr>
        <p:spPr>
          <a:xfrm>
            <a:off x="3639312" y="4288536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Mill Master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456432" y="480060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40" name="Text 38"/>
          <p:cNvSpPr/>
          <p:nvPr/>
        </p:nvSpPr>
        <p:spPr>
          <a:xfrm>
            <a:off x="3639312" y="470916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Warehouse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456432" y="522122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42" name="Text 40"/>
          <p:cNvSpPr/>
          <p:nvPr/>
        </p:nvSpPr>
        <p:spPr>
          <a:xfrm>
            <a:off x="3639312" y="5129784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Division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456432" y="564184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44" name="Text 42"/>
          <p:cNvSpPr/>
          <p:nvPr/>
        </p:nvSpPr>
        <p:spPr>
          <a:xfrm>
            <a:off x="3639312" y="5550408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Vehicle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044184" y="1920240"/>
            <a:ext cx="2670048" cy="384048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44184" y="1920240"/>
            <a:ext cx="2670048" cy="548640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/>
        </p:spPr>
      </p:sp>
      <p:sp>
        <p:nvSpPr>
          <p:cNvPr id="47" name="Shape 45"/>
          <p:cNvSpPr/>
          <p:nvPr/>
        </p:nvSpPr>
        <p:spPr>
          <a:xfrm>
            <a:off x="6044184" y="2194560"/>
            <a:ext cx="2670048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8" name="Text 46"/>
          <p:cNvSpPr/>
          <p:nvPr/>
        </p:nvSpPr>
        <p:spPr>
          <a:xfrm>
            <a:off x="6208776" y="192024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&amp; Access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227064" y="269748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50" name="Text 48"/>
          <p:cNvSpPr/>
          <p:nvPr/>
        </p:nvSpPr>
        <p:spPr>
          <a:xfrm>
            <a:off x="6409944" y="260604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Master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227064" y="311810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52" name="Text 50"/>
          <p:cNvSpPr/>
          <p:nvPr/>
        </p:nvSpPr>
        <p:spPr>
          <a:xfrm>
            <a:off x="6409944" y="3026664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Master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227064" y="353872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54" name="Text 52"/>
          <p:cNvSpPr/>
          <p:nvPr/>
        </p:nvSpPr>
        <p:spPr>
          <a:xfrm>
            <a:off x="6409944" y="3447288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&amp; rights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227064" y="395935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56" name="Text 54"/>
          <p:cNvSpPr/>
          <p:nvPr/>
        </p:nvSpPr>
        <p:spPr>
          <a:xfrm>
            <a:off x="6409944" y="3867912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persons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814816" y="1920240"/>
            <a:ext cx="2670048" cy="384048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8814816" y="1920240"/>
            <a:ext cx="2670048" cy="54864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</p:sp>
      <p:sp>
        <p:nvSpPr>
          <p:cNvPr id="59" name="Shape 57"/>
          <p:cNvSpPr/>
          <p:nvPr/>
        </p:nvSpPr>
        <p:spPr>
          <a:xfrm>
            <a:off x="8814816" y="2194560"/>
            <a:ext cx="2670048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0" name="Text 58"/>
          <p:cNvSpPr/>
          <p:nvPr/>
        </p:nvSpPr>
        <p:spPr>
          <a:xfrm>
            <a:off x="8979408" y="192024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Ledgers (8)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8997696" y="269748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62" name="Text 60"/>
          <p:cNvSpPr/>
          <p:nvPr/>
        </p:nvSpPr>
        <p:spPr>
          <a:xfrm>
            <a:off x="9180576" y="260604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8997696" y="311810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64" name="Text 62"/>
          <p:cNvSpPr/>
          <p:nvPr/>
        </p:nvSpPr>
        <p:spPr>
          <a:xfrm>
            <a:off x="9180576" y="3026664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Suppliers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8997696" y="353872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66" name="Text 64"/>
          <p:cNvSpPr/>
          <p:nvPr/>
        </p:nvSpPr>
        <p:spPr>
          <a:xfrm>
            <a:off x="9180576" y="3447288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Transporters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997696" y="395935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68" name="Text 66"/>
          <p:cNvSpPr/>
          <p:nvPr/>
        </p:nvSpPr>
        <p:spPr>
          <a:xfrm>
            <a:off x="9180576" y="3867912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Consignees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8997696" y="437997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70" name="Text 68"/>
          <p:cNvSpPr/>
          <p:nvPr/>
        </p:nvSpPr>
        <p:spPr>
          <a:xfrm>
            <a:off x="9180576" y="4288536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Duties &amp; Taxes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8997696" y="480060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72" name="Text 70"/>
          <p:cNvSpPr/>
          <p:nvPr/>
        </p:nvSpPr>
        <p:spPr>
          <a:xfrm>
            <a:off x="9180576" y="470916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/ Sales A/c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Estimo ERP  •  Corrugation Suite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3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VALUE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client gets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27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Fast, accurate quoting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8952" y="224028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 rates instantly via the box costing engine — better margins, quick response.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33672" y="13716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62272" y="1627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56632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 wastage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9704" y="224028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Reel/paper traceability + deckle planning cut scrap and raise yield.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64424" y="13716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93024" y="1627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193024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787384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control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0456" y="224028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status from job to dispatch — no guesswork.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45643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7124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12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25880" y="371246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On-time delivery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58952" y="4325112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 queue + commitment tracking build customer trust.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233672" y="345643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62272" y="37124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4462272" y="3712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056632" y="371246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inventory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489704" y="4325112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reorder via the AI agent — no more stock-outs and line stops.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964424" y="345643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93024" y="37124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8193024" y="3712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787384" y="371246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source of truth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20456" y="4325112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Sales, store, production, accounts — all in one place, one report.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Estimo ERP  •  Corrugation Suite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3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&amp; current status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5544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Front-end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3591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HTML5, CSS3, vanilla JavaScript (SPA)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7614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system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tokens, reusable components, Bootstrap Icons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34198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6758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 pages, client-side routing, modal-driven forms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40782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33425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(instant, shareable web link)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Responsiveness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99262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Desktop-first ERP layout, collapsible sidebar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99632" y="13716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7F9FC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28232" y="15544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status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28232" y="21305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2057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prototype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3500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 screens, fully clickable UI with mock data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28232" y="29077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2834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Workflows validated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20840" y="31272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corrugation process flows built-in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28232" y="368503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3611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Backend-ready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20840" y="39044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for API + database plug-in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28232" y="446227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4389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data &amp; auth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20840" y="46817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phase — real DB, login, roles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Estimo ERP  •  Corrugation Suite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3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— from prototype to production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2670048" cy="41148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63040"/>
            <a:ext cx="2670048" cy="914400"/>
          </a:xfrm>
          <a:prstGeom prst="roundRect">
            <a:avLst>
              <a:gd name="adj" fmla="val 8000"/>
            </a:avLst>
          </a:prstGeom>
          <a:solidFill>
            <a:srgbClr val="22C55E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20240"/>
            <a:ext cx="2670048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72768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Prototype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2461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45536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 screens live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8130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712464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workflows &amp; UI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37997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279392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review &amp; feedback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73552" y="1463040"/>
            <a:ext cx="2670048" cy="41148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73552" y="1463040"/>
            <a:ext cx="2670048" cy="9144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3273552" y="1920240"/>
            <a:ext cx="2670048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3456432" y="1572768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56432" y="1920240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56432" y="251460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&amp; Data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456432" y="32461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3639312" y="3145536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+ REST APIs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56432" y="38130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3639312" y="3712464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Login, roles &amp; rights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56432" y="437997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3639312" y="4279392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transactional data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44184" y="1463040"/>
            <a:ext cx="2670048" cy="41148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44184" y="1463040"/>
            <a:ext cx="2670048" cy="914400"/>
          </a:xfrm>
          <a:prstGeom prst="roundRect">
            <a:avLst>
              <a:gd name="adj" fmla="val 8000"/>
            </a:avLst>
          </a:prstGeom>
          <a:solidFill>
            <a:srgbClr val="6366F1"/>
          </a:solidFill>
          <a:ln/>
        </p:spPr>
      </p:sp>
      <p:sp>
        <p:nvSpPr>
          <p:cNvPr id="32" name="Shape 30"/>
          <p:cNvSpPr/>
          <p:nvPr/>
        </p:nvSpPr>
        <p:spPr>
          <a:xfrm>
            <a:off x="6044184" y="1920240"/>
            <a:ext cx="2670048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227064" y="1572768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227064" y="1920240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27064" y="251460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Go-Live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27064" y="32461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37" name="Text 35"/>
          <p:cNvSpPr/>
          <p:nvPr/>
        </p:nvSpPr>
        <p:spPr>
          <a:xfrm>
            <a:off x="6409944" y="3145536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AI query on real data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27064" y="38130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39" name="Text 37"/>
          <p:cNvSpPr/>
          <p:nvPr/>
        </p:nvSpPr>
        <p:spPr>
          <a:xfrm>
            <a:off x="6409944" y="3712464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reorder &amp; forecasting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27064" y="437997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6409944" y="4279392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intelligence engine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814816" y="1463040"/>
            <a:ext cx="2670048" cy="41148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76200" dist="25400" dir="5400000">
              <a:srgbClr val="AAB2BD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814816" y="1463040"/>
            <a:ext cx="2670048" cy="914400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/>
        </p:spPr>
      </p:sp>
      <p:sp>
        <p:nvSpPr>
          <p:cNvPr id="44" name="Shape 42"/>
          <p:cNvSpPr/>
          <p:nvPr/>
        </p:nvSpPr>
        <p:spPr>
          <a:xfrm>
            <a:off x="8814816" y="1920240"/>
            <a:ext cx="2670048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5" name="Text 43"/>
          <p:cNvSpPr/>
          <p:nvPr/>
        </p:nvSpPr>
        <p:spPr>
          <a:xfrm>
            <a:off x="8997696" y="1572768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997696" y="1920240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997696" y="251460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&amp; Integrate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8997696" y="32461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49" name="Text 47"/>
          <p:cNvSpPr/>
          <p:nvPr/>
        </p:nvSpPr>
        <p:spPr>
          <a:xfrm>
            <a:off x="9180576" y="3145536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Tally / accounting sync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997696" y="38130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51" name="Text 49"/>
          <p:cNvSpPr/>
          <p:nvPr/>
        </p:nvSpPr>
        <p:spPr>
          <a:xfrm>
            <a:off x="9180576" y="3712464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app for floor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997696" y="437997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53" name="Text 51"/>
          <p:cNvSpPr/>
          <p:nvPr/>
        </p:nvSpPr>
        <p:spPr>
          <a:xfrm>
            <a:off x="9180576" y="4279392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Multi-plant rollout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Estimo ERP  •  Corrugation Suite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1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43400"/>
            <a:ext cx="12191695" cy="8229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5212080" y="1051560"/>
            <a:ext cx="1737360" cy="1737360"/>
          </a:xfrm>
          <a:prstGeom prst="roundRect">
            <a:avLst>
              <a:gd name="adj" fmla="val 14737"/>
            </a:avLst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0" y="105156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77240" y="45720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B3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Estimo ERP — Corrugation Suite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507492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D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integrated, AI-enabled platform — from enquiry to dispatch.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B3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for a live demo &amp; discussion.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Estimo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Estimo ERP — Corrugation Suite</dc:title>
  <dc:subject>PptxGenJS Presentation</dc:subject>
  <dc:creator>Estimo ERP</dc:creator>
  <cp:lastModifiedBy>Estimo ERP</cp:lastModifiedBy>
  <cp:revision>1</cp:revision>
  <dcterms:created xsi:type="dcterms:W3CDTF">2026-07-02T07:29:46Z</dcterms:created>
  <dcterms:modified xsi:type="dcterms:W3CDTF">2026-07-02T07:29:46Z</dcterms:modified>
</cp:coreProperties>
</file>